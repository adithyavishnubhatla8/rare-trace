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1097280"/>
            <a:ext cx="2926080" cy="411480"/>
          </a:xfrm>
          <a:prstGeom prst="roundRect">
            <a:avLst/>
          </a:prstGeom>
          <a:solidFill>
            <a:srgbClr val="134E4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4B8A6"/>
                </a:solidFill>
              </a:defRPr>
            </a:pPr>
            <a:r>
              <a:t>CLINICAL 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RARETRACE</a:t>
            </a:r>
          </a:p>
          <a:p>
            <a:pPr>
              <a:spcBef>
                <a:spcPts val="800"/>
              </a:spcBef>
              <a:defRPr sz="2200">
                <a:solidFill>
                  <a:srgbClr val="14B8A6"/>
                </a:solidFill>
              </a:defRPr>
            </a:pPr>
            <a:r>
              <a:t>Rare-Disease Case Identification Using DBSCAN-Based Anomaly Detection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BD5E1"/>
                </a:solidFill>
              </a:defRPr>
            </a:pPr>
            <a:r>
              <a:t>An unsupervised machine learning framework integrating density-based spatial clustering, adaptive k-NN knee optimization, clinical decision support (CDS), and Supabase PostgreSQL audit trails.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4389120"/>
            <a:ext cx="996696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526280"/>
            <a:ext cx="9418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B8A6"/>
                </a:solidFill>
              </a:defRPr>
            </a:pPr>
            <a:r>
              <a:t>CAPSTONE PROJECT DETAILS (2026–2027)</a:t>
            </a:r>
          </a:p>
          <a:p>
            <a:pPr>
              <a:spcBef>
                <a:spcPts val="400"/>
              </a:spcBef>
              <a:defRPr sz="1300" b="1">
                <a:solidFill>
                  <a:srgbClr val="FFFFFF"/>
                </a:solidFill>
              </a:defRPr>
            </a:pPr>
            <a:r>
              <a:t>• Student Developers: Adithya Vishnubhatla &amp; Pavan Kumar</a:t>
            </a:r>
          </a:p>
          <a:p>
            <a:pPr>
              <a:spcBef>
                <a:spcPts val="300"/>
              </a:spcBef>
              <a:defRPr sz="1200">
                <a:solidFill>
                  <a:srgbClr val="CBD5E1"/>
                </a:solidFill>
              </a:defRPr>
            </a:pPr>
            <a:r>
              <a:t>• Faculty Guide: I V Sai Lakshmi Haritha | Department of Computer Science &amp; Engineering</a:t>
            </a:r>
          </a:p>
          <a:p>
            <a:pPr>
              <a:spcBef>
                <a:spcPts val="300"/>
              </a:spcBef>
              <a:defRPr sz="1100">
                <a:solidFill>
                  <a:srgbClr val="14B8A6"/>
                </a:solidFill>
              </a:defRPr>
            </a:pPr>
            <a:r>
              <a:t>• Core Architecture: Unsupervised DBSCAN ML • Supabase PostgreSQL • Vercel Serverless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B8A6"/>
                </a:solidFill>
              </a:defRPr>
            </a:pPr>
            <a:r>
              <a:t>RARETRACE CLINICAL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Clinical Background: The Diagnostic Odyssey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RARETRACE — DBSCAN-Based Anomaly Detection for Rare Diseases | B.Tech Capstone 2026–2027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The Rare-Disease Challenge</a:t>
            </a:r>
          </a:p>
          <a:p>
            <a:pPr>
              <a:spcBef>
                <a:spcPts val="800"/>
              </a:spcBef>
              <a:defRPr b="1" sz="1200">
                <a:solidFill>
                  <a:srgbClr val="E11D48"/>
                </a:solidFill>
              </a:defRPr>
            </a:pPr>
            <a:r>
              <a:t>• 300+ Million Patients: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Over 300 million individuals globally live with one of ~7,000 recognized rare conditions.</a:t>
            </a:r>
          </a:p>
          <a:p>
            <a:pPr>
              <a:spcBef>
                <a:spcPts val="800"/>
              </a:spcBef>
              <a:defRPr b="1" sz="1200">
                <a:solidFill>
                  <a:srgbClr val="E11D48"/>
                </a:solidFill>
              </a:defRPr>
            </a:pPr>
            <a:r>
              <a:t>• 4.8 to 7.3 Years Delay: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Patients visit an average of 8 physicians and receive 2-3 misdiagnoses before correct identification.</a:t>
            </a:r>
          </a:p>
          <a:p>
            <a:pPr>
              <a:spcBef>
                <a:spcPts val="800"/>
              </a:spcBef>
              <a:defRPr b="1" sz="1200">
                <a:solidFill>
                  <a:srgbClr val="E11D48"/>
                </a:solidFill>
              </a:defRPr>
            </a:pPr>
            <a:r>
              <a:t>• Diagnostic Odyssey: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Long delays lead to irreversible organ damage, disease progression, and massive emotional/financial strain.</a:t>
            </a:r>
          </a:p>
          <a:p>
            <a:pPr>
              <a:spcBef>
                <a:spcPts val="800"/>
              </a:spcBef>
              <a:defRPr b="1" sz="1200">
                <a:solidFill>
                  <a:srgbClr val="E11D48"/>
                </a:solidFill>
              </a:defRPr>
            </a:pPr>
            <a:r>
              <a:t>• Clinical Heterogeneity: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Symptoms overlap broadly with prevalent chronic conditions, confounding routine clinical reviews.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Why Supervised ML Fails</a:t>
            </a:r>
          </a:p>
          <a:p>
            <a:pPr>
              <a:spcBef>
                <a:spcPts val="800"/>
              </a:spcBef>
              <a:defRPr b="1" sz="1200">
                <a:solidFill>
                  <a:srgbClr val="0D9488"/>
                </a:solidFill>
              </a:defRPr>
            </a:pPr>
            <a:r>
              <a:t>• Extreme Class Imbalance: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Rare cases comprise &lt; 0.1% of clinical cohorts. Standard classifiers collapse into trivial majority-class predictions.</a:t>
            </a:r>
          </a:p>
          <a:p>
            <a:pPr>
              <a:spcBef>
                <a:spcPts val="800"/>
              </a:spcBef>
              <a:defRPr b="1" sz="1200">
                <a:solidFill>
                  <a:srgbClr val="0D9488"/>
                </a:solidFill>
              </a:defRPr>
            </a:pPr>
            <a:r>
              <a:t>• Absence of Ground Truth Labels: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Novel or ultra-rare variants lack verified positive training sets in historical Electronic Health Records (EHR).</a:t>
            </a:r>
          </a:p>
          <a:p>
            <a:pPr>
              <a:spcBef>
                <a:spcPts val="800"/>
              </a:spcBef>
              <a:defRPr b="1" sz="1200">
                <a:solidFill>
                  <a:srgbClr val="0D9488"/>
                </a:solidFill>
              </a:defRPr>
            </a:pPr>
            <a:r>
              <a:t>• Overfitting on Artifacts: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Supervised models overfit to spurious patterns rather than genuine phenotypic anomalies.</a:t>
            </a:r>
          </a:p>
          <a:p>
            <a:pPr>
              <a:spcBef>
                <a:spcPts val="800"/>
              </a:spcBef>
              <a:defRPr b="1" sz="1200">
                <a:solidFill>
                  <a:srgbClr val="0D9488"/>
                </a:solidFill>
              </a:defRPr>
            </a:pPr>
            <a:r>
              <a:t>• The Solution: Unsupervised Outlier Mining: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Treat rare diseases not as a classification task, but as mathematical spatial anomalies in multidimensional clinical space.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B8A6"/>
                </a:solidFill>
              </a:defRPr>
            </a:pPr>
            <a:r>
              <a:t>RARETRACE CLINICAL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Objectives &amp; Technical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RARETRACE — DBSCAN-Based Anomaly Detection for Rare Diseases | B.Tech Capstone 2026–2027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33832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544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1. Unsupervised Discovery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Detect anomalous clinical records from unlabelled heterogeneous patient populations without requiring historical disease labels or ground truth.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33832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5544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2. Density-Based Clustering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Implement DBSCAN to separate typical disease clusters from non-conforming isolated noise points (label = -1) exhibiting rare pathology signatures.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371600"/>
            <a:ext cx="3383280" cy="7315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55448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Adaptive Parameter Tuning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Dynamically calculate optimal eps radii using k-nearest neighbor (k-NN) distance graphs and mathematical knee/elbow detection.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79476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794760"/>
            <a:ext cx="338328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776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4. Explainable Clinical AI (XAI)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Derive population Z-score feature attributions for every flagged candidate so clinicians understand precisely why an anomaly was triggered.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79476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3794760"/>
            <a:ext cx="3383280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39776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5. Clinical Decision Support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Generate structured specialist referrals, confirmatory biomarker tests, and evidence-based diagnostic pathways for attending physicians.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3794760"/>
            <a:ext cx="338328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20" y="3794760"/>
            <a:ext cx="3383280" cy="7315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97764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6. Cloud-Native Audit &amp; Security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Persist de-identified analysis metadata in Supabase PostgreSQL while strictly maintaining zero-PII transmission for HIPAA compliance.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B8A6"/>
                </a:solidFill>
              </a:defRPr>
            </a:pPr>
            <a:r>
              <a:t>RARETRACE CLINICAL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RARETRACE Architectural Pipeline &amp;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RARETRACE — DBSCAN-Based Anomaly Detection for Rare Diseases | B.Tech Capstone 2026–2027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81328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Step 1: CSV Ingestion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Upload clinical dataset (EHR, vitals, lab biomarkers).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81328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Step 2: Validation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Schema check, missingness scan, type enforcement.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481328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Step 3: Preprocessing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Clinical imputation &amp; Robust/Standard scaling.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71800"/>
            <a:ext cx="33832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81528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Step 4: Feature Eng.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Biomarker interaction &amp; risk ratio synthesis.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2971800"/>
            <a:ext cx="33832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3081528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Step 5: DBSCAN Mining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Adaptive k-NN knee optimization &amp; clustering.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2971800"/>
            <a:ext cx="33832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3081528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Step 6: Anomaly Scoring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Distance-to-core metric &amp; candidate extraction.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72000"/>
            <a:ext cx="33832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681728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Step 7: XAI Attribution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2D PCA coordinates &amp; Z-score feature ranking.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572000"/>
            <a:ext cx="33832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681728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Step 8: CDS Engine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Specialist mapping &amp; clinical recommendations.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4572000"/>
            <a:ext cx="33832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681728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Step 9: Supabase Sync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Audit metadata written to Supabase PostgreSQL.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486400"/>
            <a:ext cx="10728655" cy="68580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57784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 b="1">
                <a:solidFill>
                  <a:srgbClr val="14B8A6"/>
                </a:solidFill>
              </a:defRPr>
            </a:pPr>
            <a:r>
              <a:t>Workflow Guarantee: Zero PII transmission • Ephemeral serverless execution • Full reproducibility across multi-tenant cohorts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B8A6"/>
                </a:solidFill>
              </a:defRPr>
            </a:pPr>
            <a:r>
              <a:t>RARETRACE CLINICAL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Clinical Data Preprocessing &amp; Feature Engineering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RARETRACE — DBSCAN-Based Anomaly Detection for Rare Diseases | B.Tech Capstone 2026–2027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1. Clinical Preprocessing Pipeline</a:t>
            </a:r>
          </a:p>
          <a:p>
            <a:pPr>
              <a:spcBef>
                <a:spcPts val="800"/>
              </a:spcBef>
              <a:defRPr b="1" sz="1150">
                <a:solidFill>
                  <a:srgbClr val="0D9488"/>
                </a:solidFill>
              </a:defRPr>
            </a:pPr>
            <a:r>
              <a:t>• Dynamic Column Detection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Automatically identifies clinical biomarkers (WBC, Platelets, Creatinine, ALT, Blood Pressure, Glucose) and separates metadata from numerical tensors.</a:t>
            </a:r>
          </a:p>
          <a:p>
            <a:pPr>
              <a:spcBef>
                <a:spcPts val="800"/>
              </a:spcBef>
              <a:defRPr b="1" sz="1150">
                <a:solidFill>
                  <a:srgbClr val="0D9488"/>
                </a:solidFill>
              </a:defRPr>
            </a:pPr>
            <a:r>
              <a:t>• Medical Imputation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Missing clinical parameters are imputed using median-based cohort values to prevent artificial outlier distortion caused by arbitrary zero-filling.</a:t>
            </a:r>
          </a:p>
          <a:p>
            <a:pPr>
              <a:spcBef>
                <a:spcPts val="800"/>
              </a:spcBef>
              <a:defRPr b="1" sz="1150">
                <a:solidFill>
                  <a:srgbClr val="0D9488"/>
                </a:solidFill>
              </a:defRPr>
            </a:pPr>
            <a:r>
              <a:t>• Robust Standardization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Scales features using Z-score standardization: z = (x - μ) / σ. Prevents high-magnitude lab tests from dominating Euclidean distance calculations.</a:t>
            </a:r>
          </a:p>
          <a:p>
            <a:pPr>
              <a:spcBef>
                <a:spcPts val="800"/>
              </a:spcBef>
              <a:defRPr b="1" sz="1150">
                <a:solidFill>
                  <a:srgbClr val="0D9488"/>
                </a:solidFill>
              </a:defRPr>
            </a:pPr>
            <a:r>
              <a:t>• Noise Filtering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Validates biological ranges to ensure sensor artifacts or data-entry errors are handled prior to spatial density calculations.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2. Domain-Specific Feature Engineering</a:t>
            </a:r>
          </a:p>
          <a:p>
            <a:pPr>
              <a:spcBef>
                <a:spcPts val="800"/>
              </a:spcBef>
              <a:defRPr b="1" sz="1150">
                <a:solidFill>
                  <a:srgbClr val="0284C7"/>
                </a:solidFill>
              </a:defRPr>
            </a:pPr>
            <a:r>
              <a:t>• Metabolic &amp; Hematologic Ratios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Synthesizes clinically validated diagnostic ratios (e.g., BUN/Creatinine, AST/ALT, Neutrophil-to-Lymphocyte ratio) critical in autoimmune and metabolic rare diseases.</a:t>
            </a:r>
          </a:p>
          <a:p>
            <a:pPr>
              <a:spcBef>
                <a:spcPts val="800"/>
              </a:spcBef>
              <a:defRPr b="1" sz="1150">
                <a:solidFill>
                  <a:srgbClr val="0284C7"/>
                </a:solidFill>
              </a:defRPr>
            </a:pPr>
            <a:r>
              <a:t>• Multisystem Composite Risk Index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Calculates compounded physiological deviation scores across disparate organ systems (cardiac, renal, hepatic, immunological).</a:t>
            </a:r>
          </a:p>
          <a:p>
            <a:pPr>
              <a:spcBef>
                <a:spcPts val="800"/>
              </a:spcBef>
              <a:defRPr b="1" sz="1150">
                <a:solidFill>
                  <a:srgbClr val="0284C7"/>
                </a:solidFill>
              </a:defRPr>
            </a:pPr>
            <a:r>
              <a:t>• Non-Linear Interaction Terms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Captures cross-biomarker dependencies that individually appear borderline normal but jointly signal rare multi-system disease phenotypes.</a:t>
            </a:r>
          </a:p>
          <a:p>
            <a:pPr>
              <a:spcBef>
                <a:spcPts val="800"/>
              </a:spcBef>
              <a:defRPr b="1" sz="1150">
                <a:solidFill>
                  <a:srgbClr val="0284C7"/>
                </a:solidFill>
              </a:defRPr>
            </a:pPr>
            <a:r>
              <a:t>• Dimensionality Preparation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Outputs high-density n-dimensional Euclidean vectors ready for spatial clustering without premature variance loss.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B8A6"/>
                </a:solidFill>
              </a:defRPr>
            </a:pPr>
            <a:r>
              <a:t>RARETRACE CLINICAL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DBSCAN Clustering &amp; Adaptive Parameter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RARETRACE — DBSCAN-Based Anomaly Detection for Rare Diseases | B.Tech Capstone 2026–2027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Core DBSCAN Principles</a:t>
            </a:r>
          </a:p>
          <a:p>
            <a:pPr>
              <a:spcBef>
                <a:spcPts val="600"/>
              </a:spcBef>
              <a:defRPr b="1" sz="1150">
                <a:solidFill>
                  <a:srgbClr val="0D9488"/>
                </a:solidFill>
              </a:defRPr>
            </a:pPr>
            <a:r>
              <a:t>• Density-Based Paradigm: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Unlike K-Means, DBSCAN does not assume spherical clusters or require specifying 'k' clusters in advance. It discovers arbitrary-shaped dense regions.</a:t>
            </a:r>
          </a:p>
          <a:p>
            <a:pPr>
              <a:spcBef>
                <a:spcPts val="600"/>
              </a:spcBef>
              <a:defRPr b="1" sz="1150">
                <a:solidFill>
                  <a:srgbClr val="0D9488"/>
                </a:solidFill>
              </a:defRPr>
            </a:pPr>
            <a:r>
              <a:t>• Core Points: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A point is a Core Point if at least 'min_samples' points fall within Euclidean radius 'eps'.</a:t>
            </a:r>
          </a:p>
          <a:p>
            <a:pPr>
              <a:spcBef>
                <a:spcPts val="600"/>
              </a:spcBef>
              <a:defRPr b="1" sz="1150">
                <a:solidFill>
                  <a:srgbClr val="0D9488"/>
                </a:solidFill>
              </a:defRPr>
            </a:pPr>
            <a:r>
              <a:t>• Border Points: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Points reachable from a core point within distance 'eps' but possessing fewer than 'min_samples' neighbors.</a:t>
            </a:r>
          </a:p>
          <a:p>
            <a:pPr>
              <a:spcBef>
                <a:spcPts val="600"/>
              </a:spcBef>
              <a:defRPr b="1" sz="1150">
                <a:solidFill>
                  <a:srgbClr val="0D9488"/>
                </a:solidFill>
              </a:defRPr>
            </a:pPr>
            <a:r>
              <a:t>• Noise / Anomaly Points (Label = -1):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Points that are neither core nor border points. In RARETRACE, these isolated points represent candidate rare-disease phenotypes.</a:t>
            </a:r>
          </a:p>
          <a:p>
            <a:pPr>
              <a:spcBef>
                <a:spcPts val="600"/>
              </a:spcBef>
              <a:defRPr b="1" sz="1150">
                <a:solidFill>
                  <a:srgbClr val="0D9488"/>
                </a:solidFill>
              </a:defRPr>
            </a:pPr>
            <a:r>
              <a:t>• Continuous Anomaly Score: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Calculated as the normalized distance from the candidate to the nearest core cluster centroid.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Adaptive k-NN Knee Optimization</a:t>
            </a:r>
          </a:p>
          <a:p>
            <a:pPr>
              <a:spcBef>
                <a:spcPts val="600"/>
              </a:spcBef>
              <a:defRPr b="1" sz="1150">
                <a:solidFill>
                  <a:srgbClr val="0284C7"/>
                </a:solidFill>
              </a:defRPr>
            </a:pPr>
            <a:r>
              <a:t>• The Hyperparameter Bottleneck: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Fixed 'eps' values fail across varying cohort dimensions, causing either zero outliers or 50% false positives.</a:t>
            </a:r>
          </a:p>
          <a:p>
            <a:pPr>
              <a:spcBef>
                <a:spcPts val="600"/>
              </a:spcBef>
              <a:defRPr b="1" sz="1150">
                <a:solidFill>
                  <a:srgbClr val="0284C7"/>
                </a:solidFill>
              </a:defRPr>
            </a:pPr>
            <a:r>
              <a:t>• k-Nearest Neighbors (k-NN) Graph: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For every patient record, calculate distance to its k-th nearest neighbor where k = 2 * features - 1.</a:t>
            </a:r>
          </a:p>
          <a:p>
            <a:pPr>
              <a:spcBef>
                <a:spcPts val="600"/>
              </a:spcBef>
              <a:defRPr b="1" sz="1150">
                <a:solidFill>
                  <a:srgbClr val="0284C7"/>
                </a:solidFill>
              </a:defRPr>
            </a:pPr>
            <a:r>
              <a:t>• Automated Knee / Elbow Detection: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Sort k-distances in ascending order and compute second-order numerical derivatives to detect the point of maximum curvature (the 'knee').</a:t>
            </a:r>
          </a:p>
          <a:p>
            <a:pPr>
              <a:spcBef>
                <a:spcPts val="600"/>
              </a:spcBef>
              <a:defRPr b="1" sz="1150">
                <a:solidFill>
                  <a:srgbClr val="0284C7"/>
                </a:solidFill>
              </a:defRPr>
            </a:pPr>
            <a:r>
              <a:t>• Mathematical Optimum: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The knee point corresponds to the threshold where intra-cluster density transitions into sparse background noise, establishing the optimal 'eps'.</a:t>
            </a:r>
          </a:p>
          <a:p>
            <a:pPr>
              <a:spcBef>
                <a:spcPts val="600"/>
              </a:spcBef>
              <a:defRPr b="1" sz="1150">
                <a:solidFill>
                  <a:srgbClr val="0284C7"/>
                </a:solidFill>
              </a:defRPr>
            </a:pPr>
            <a:r>
              <a:t>• Full User Override: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Clinical researchers retain full manual slider control to tune 'eps' and 'min_samples' to adjust screening sensitivity.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B8A6"/>
                </a:solidFill>
              </a:defRPr>
            </a:pPr>
            <a:r>
              <a:t>RARETRACE CLINICAL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Explainability: Z-Score Feature Attribution &amp; PCA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RARETRACE — DBSCAN-Based Anomaly Detection for Rare Diseases | B.Tech Capstone 2026–2027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11D48"/>
                </a:solidFill>
              </a:defRPr>
            </a:pPr>
            <a:r>
              <a:t>1. Z-Score Deviation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Formula: z = (x_patient - μ_pop) / σ_pop</a:t>
            </a:r>
            <a:br/>
            <a:br/>
            <a:r>
              <a:t>Every candidate patient's biomarkers are compared directly against the reference cohort mean and standard deviation.</a:t>
            </a:r>
            <a:br/>
            <a:br/>
            <a:r>
              <a:t>• High Z (&gt; +2.0): Biomarker is significantly elevated.</a:t>
            </a:r>
            <a:br/>
            <a:r>
              <a:t>• Low Z (&lt; -2.0): Biomarker is severely suppressed.</a:t>
            </a:r>
            <a:br/>
            <a:r>
              <a:t>• Absolute Deviation Ranking: Features with |Z| &gt;= 1.7 are highlighted as abnormal drivers of anomaly.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</a:defRPr>
            </a:pPr>
            <a:r>
              <a:t>2. 2D PCA Projections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Dimensionality Reduction:</a:t>
            </a:r>
            <a:br/>
            <a:r>
              <a:t>Principal Component Analysis (PCA) maps multidimensional clinical spaces down to 2 principal components (PC1, PC2).</a:t>
            </a:r>
            <a:br/>
            <a:br/>
            <a:r>
              <a:t>• Instant Spatial Intuition: Visualizes dense normal clusters vs. distant isolated red anomaly markers.</a:t>
            </a:r>
            <a:br/>
            <a:r>
              <a:t>• Fast Zero-Latency Rendering: Coordinates are pre-computed during pipeline execution, ensuring interactive 60 FPS dashboard exploration.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554480"/>
            <a:ext cx="3017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</a:defRPr>
            </a:pPr>
            <a:r>
              <a:t>3. Patient Dossier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Clinician-Facing Summary:</a:t>
            </a:r>
            <a:br/>
            <a:r>
              <a:t>No black-box predictions. Each flagged patient receives a synthesized dossier:</a:t>
            </a:r>
            <a:br/>
            <a:br/>
            <a:r>
              <a:t>• Anomaly Score: 0.00 to 1.00</a:t>
            </a:r>
            <a:br/>
            <a:r>
              <a:t>• Review Priority: High, Moderate, Low</a:t>
            </a:r>
            <a:br/>
            <a:r>
              <a:t>• Key Abnormal Drivers: E.g., 'Elevated Ferritin (+3.8σ), Severe Thrombocytopenia (-2.9σ)'</a:t>
            </a:r>
            <a:br/>
            <a:r>
              <a:t>• Diagnostic Confidence: Cluster density vs. isolation distance.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B8A6"/>
                </a:solidFill>
              </a:defRPr>
            </a:pPr>
            <a:r>
              <a:t>RARETRACE CLINICAL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Clinical Decision Support (CDS) &amp; Specialist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RARETRACE — DBSCAN-Based Anomaly Detection for Rare Diseases | B.Tech Capstone 2026–2027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Transforming Spatial Outliers into Actionable Medical Guidance</a:t>
            </a:r>
          </a:p>
          <a:p>
            <a:pPr>
              <a:spcBef>
                <a:spcPts val="800"/>
              </a:spcBef>
              <a:defRPr b="1" sz="1200">
                <a:solidFill>
                  <a:srgbClr val="0D9488"/>
                </a:solidFill>
              </a:defRPr>
            </a:pPr>
            <a:r>
              <a:t>• Evidence-Based Rule Engine: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Maps anomalous biomarker combinations to recognized clinical patterns (e.g., microangiopathic hemolytic anemia, systemic autoinflammation, lysosomal storage disorders).</a:t>
            </a:r>
          </a:p>
          <a:p>
            <a:pPr>
              <a:spcBef>
                <a:spcPts val="800"/>
              </a:spcBef>
              <a:defRPr b="1" sz="1200">
                <a:solidFill>
                  <a:srgbClr val="0D9488"/>
                </a:solidFill>
              </a:defRPr>
            </a:pPr>
            <a:r>
              <a:t>• Multidisciplinary Specialist Referrals: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Recommends specific referral departments: Medical Genetics, Pediatric Immunology, Rare Hematology, Rheumatology, or Metabolic Endocrinology.</a:t>
            </a:r>
          </a:p>
          <a:p>
            <a:pPr>
              <a:spcBef>
                <a:spcPts val="800"/>
              </a:spcBef>
              <a:defRPr b="1" sz="1200">
                <a:solidFill>
                  <a:srgbClr val="0D9488"/>
                </a:solidFill>
              </a:defRPr>
            </a:pPr>
            <a:r>
              <a:t>• Confirmatory Diagnostic Roadmap: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Lists secondary validation tests: Whole Exome Sequencing (WES), targeted gene panels, enzyme activity assays, or high-resolution organ MRI.</a:t>
            </a:r>
          </a:p>
          <a:p>
            <a:pPr>
              <a:spcBef>
                <a:spcPts val="800"/>
              </a:spcBef>
              <a:defRPr b="1" sz="1200">
                <a:solidFill>
                  <a:srgbClr val="0D9488"/>
                </a:solidFill>
              </a:defRPr>
            </a:pPr>
            <a:r>
              <a:t>• Clinical Urgency Stratification: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Assigns Priority Levels: 'CRITICAL REVIEW' (immediate multi-organ risk), 'HIGH' (suspected rare variant), or 'MODERATE' (outlier monitoring).</a:t>
            </a:r>
          </a:p>
          <a:p>
            <a:pPr>
              <a:spcBef>
                <a:spcPts val="800"/>
              </a:spcBef>
              <a:defRPr b="1" sz="1200">
                <a:solidFill>
                  <a:srgbClr val="0D9488"/>
                </a:solidFill>
              </a:defRPr>
            </a:pPr>
            <a:r>
              <a:t>• Clinician-in-the-Loop Governance: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All automated CDS recommendations serve strictly as diagnostic decision support; final authority remains with certified physicians.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B8A6"/>
                </a:solidFill>
              </a:defRPr>
            </a:pPr>
            <a:r>
              <a:t>RARETRACE CLINICAL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Experimental Results &amp; Model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RARETRACE — DBSCAN-Based Anomaly Detection for Rare Diseases | B.Tech Capstone 2026–2027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4864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Clustering Validation Metrics</a:t>
            </a:r>
          </a:p>
          <a:p>
            <a:pPr>
              <a:spcBef>
                <a:spcPts val="800"/>
              </a:spcBef>
              <a:defRPr b="1" sz="1200">
                <a:solidFill>
                  <a:srgbClr val="0D9488"/>
                </a:solidFill>
              </a:defRPr>
            </a:pPr>
            <a:r>
              <a:t>• Silhouette Coefficient: 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Measures intra-cluster cohesion vs. inter-cluster separation. Scores &gt;= 0.40 indicate robust clinical cluster definitions.</a:t>
            </a:r>
          </a:p>
          <a:p>
            <a:pPr>
              <a:spcBef>
                <a:spcPts val="800"/>
              </a:spcBef>
              <a:defRPr b="1" sz="1200">
                <a:solidFill>
                  <a:srgbClr val="0D9488"/>
                </a:solidFill>
              </a:defRPr>
            </a:pPr>
            <a:r>
              <a:t>• Davies-Bouldin Index: 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Evaluates cluster similarity ratio; lower values signify well-isolated, compact physiological clusters.</a:t>
            </a:r>
          </a:p>
          <a:p>
            <a:pPr>
              <a:spcBef>
                <a:spcPts val="800"/>
              </a:spcBef>
              <a:defRPr b="1" sz="1200">
                <a:solidFill>
                  <a:srgbClr val="0D9488"/>
                </a:solidFill>
              </a:defRPr>
            </a:pPr>
            <a:r>
              <a:t>• Calinski-Harabasz Index: 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Variance ratio criterion confirming high between-cluster dispersion compared to within-cluster dispersion.</a:t>
            </a:r>
          </a:p>
          <a:p>
            <a:pPr>
              <a:spcBef>
                <a:spcPts val="800"/>
              </a:spcBef>
              <a:defRPr b="1" sz="1200">
                <a:solidFill>
                  <a:srgbClr val="0D9488"/>
                </a:solidFill>
              </a:defRPr>
            </a:pPr>
            <a:r>
              <a:t>• Noise Ratio Stability: 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Consistently isolates 1.5% to 4.5% candidate cases, matching recognized rare disease prevalence distributions without excessive alarm fatigue.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371600"/>
            <a:ext cx="493776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DBSCAN vs. Isolation Forest Benchmark</a:t>
            </a:r>
          </a:p>
          <a:p>
            <a:pPr>
              <a:spcBef>
                <a:spcPts val="800"/>
              </a:spcBef>
              <a:defRPr b="1" sz="1200">
                <a:solidFill>
                  <a:srgbClr val="0284C7"/>
                </a:solidFill>
              </a:defRPr>
            </a:pPr>
            <a:r>
              <a:t>• Ensemble Agreement: 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Cross-verified against Isolation Forest (iForest). RARETRACE tracks consensus overlap percentage between tree partition depth and density radius.</a:t>
            </a:r>
          </a:p>
          <a:p>
            <a:pPr>
              <a:spcBef>
                <a:spcPts val="800"/>
              </a:spcBef>
              <a:defRPr b="1" sz="1200">
                <a:solidFill>
                  <a:srgbClr val="0284C7"/>
                </a:solidFill>
              </a:defRPr>
            </a:pPr>
            <a:r>
              <a:t>• Preservation of Multi-Modal Clusters: 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Isolation Forest isolates points regardless of background cluster topology. DBSCAN preserves healthy baseline clusters while detecting true density gaps.</a:t>
            </a:r>
          </a:p>
          <a:p>
            <a:pPr>
              <a:spcBef>
                <a:spcPts val="800"/>
              </a:spcBef>
              <a:defRPr b="1" sz="1200">
                <a:solidFill>
                  <a:srgbClr val="0284C7"/>
                </a:solidFill>
              </a:defRPr>
            </a:pPr>
            <a:r>
              <a:t>• Boundary Sensitivity: 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DBSCAN avoids false-positive flagging at the periphery of dense normal clusters by enforcing density reachability.</a:t>
            </a:r>
          </a:p>
          <a:p>
            <a:pPr>
              <a:spcBef>
                <a:spcPts val="800"/>
              </a:spcBef>
              <a:defRPr b="1" sz="1200">
                <a:solidFill>
                  <a:srgbClr val="0284C7"/>
                </a:solidFill>
              </a:defRPr>
            </a:pPr>
            <a:r>
              <a:t>• Linear Execution Runtime: 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   Completes clustering on 1,000+ patient records in &lt; 1.2 seconds, making it ideal for real-time web deployment.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B8A6"/>
                </a:solidFill>
              </a:defRPr>
            </a:pPr>
            <a:r>
              <a:t>RARETRACE CLINICAL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Database Integration &amp; Vercel Serverless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RARETRACE — DBSCAN-Based Anomaly Detection for Rare Diseases | B.Tech Capstone 2026–2027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51206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087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1. Supabase PostgreSQL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Cloud PostgreSQL database with Row Level Security (RLS).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Stores pipeline metadata, DBSCAN hyperparameters, and cluster statistics.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RESTful PostgREST integration via secure server-side requests.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Zero PII stored remotely; complete patient privacy guaranteed.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371600"/>
            <a:ext cx="512064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50876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284C7"/>
                </a:solidFill>
              </a:defRPr>
            </a:pPr>
            <a:r>
              <a:t>2. Vercel Serverless Engine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100% serverless Python WSGI runtime via `api/index.py`.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Stateless execution: ephemeral file handling in `/tmp`.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Vercel Edge CDN for high-performance static asset caching.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Deploys seamlessly via `vercel` and `vercel --prod`.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94760"/>
            <a:ext cx="5120640" cy="54864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93192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Web &amp; Analytical Core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Flask 3.x web application with Jinja2 responsive templates.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Light theme design system with deep navy typography.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Dynamic dataset switching and multi-cohort workspace isolation.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Integrated PDF Clinical Report generator via ReportLab.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794760"/>
            <a:ext cx="512064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794760"/>
            <a:ext cx="5120640" cy="54864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931920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4. Cross-Platform Client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Progressive Web App (PWA) with service worker offline caching.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Trusted Web Activity (TWA) Android APK build.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• Responsive layout adapted for desktop, tablets, and mobile clinical carts.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B8A6"/>
                </a:solidFill>
              </a:defRPr>
            </a:pPr>
            <a:r>
              <a:t>RARETRACE CLINICAL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Security, HIPAA Privacy &amp; Clinical Ethics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RARETRACE — DBSCAN-Based Anomaly Detection for Rare Diseases | B.Tech Capstone 2026–2027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10149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Guiding Ethical &amp; Architectural Safeguards</a:t>
            </a:r>
          </a:p>
          <a:p>
            <a:pPr>
              <a:spcBef>
                <a:spcPts val="800"/>
              </a:spcBef>
              <a:defRPr b="1" sz="1200">
                <a:solidFill>
                  <a:srgbClr val="0D9488"/>
                </a:solidFill>
              </a:defRPr>
            </a:pPr>
            <a:r>
              <a:t>• Zero-PII Storage Architecture: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Patient names, Medical Record Numbers (MRNs), dates of birth, and identifiable demographic tokens are never transmitted to Supabase or third-party servers. Only aggregated cohort metrics and hyperparameter configurations are persisted.</a:t>
            </a:r>
          </a:p>
          <a:p>
            <a:pPr>
              <a:spcBef>
                <a:spcPts val="800"/>
              </a:spcBef>
              <a:defRPr b="1" sz="1200">
                <a:solidFill>
                  <a:srgbClr val="0D9488"/>
                </a:solidFill>
              </a:defRPr>
            </a:pPr>
            <a:r>
              <a:t>• Row Level Security (RLS) &amp; Credential Protection: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Privileged database operations are executed strictly via server-side APIs. Database connection strings, service role keys, and backend passwords are never exposed in client JavaScript.</a:t>
            </a:r>
          </a:p>
          <a:p>
            <a:pPr>
              <a:spcBef>
                <a:spcPts val="800"/>
              </a:spcBef>
              <a:defRPr b="1" sz="1200">
                <a:solidFill>
                  <a:srgbClr val="0D9488"/>
                </a:solidFill>
              </a:defRPr>
            </a:pPr>
            <a:r>
              <a:t>• Medical AI Decision Support Disclaimer: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RARETRACE is an investigative clinical decision support tool designed to flag candidate anomalies for medical review. It does not provide definitive medical diagnoses or prescribe pharmaceutical regimens.</a:t>
            </a:r>
          </a:p>
          <a:p>
            <a:pPr>
              <a:spcBef>
                <a:spcPts val="800"/>
              </a:spcBef>
              <a:defRPr b="1" sz="1200">
                <a:solidFill>
                  <a:srgbClr val="0D9488"/>
                </a:solidFill>
              </a:defRPr>
            </a:pPr>
            <a:r>
              <a:t>• Algorithmic Auditability: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Every analysis generates an immutable audit record in Supabase detailing dataset name, record count, chosen eps radius, detected noise count, and execution timestamp.</a:t>
            </a:r>
          </a:p>
          <a:p>
            <a:pPr>
              <a:spcBef>
                <a:spcPts val="800"/>
              </a:spcBef>
              <a:defRPr b="1" sz="1200">
                <a:solidFill>
                  <a:srgbClr val="0D9488"/>
                </a:solidFill>
              </a:defRPr>
            </a:pPr>
            <a:r>
              <a:t>• Mitigation of Screening Bias: 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   Cohort-relative standardization prevents algorithmic discrimination caused by differing laboratory calibration reference ranges.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4B8A6"/>
                </a:solidFill>
              </a:defRPr>
            </a:pPr>
            <a:r>
              <a:t>RARETRACE CLINICAL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Summary, Future Scope &amp; Acknowledgements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RARETRACE — DBSCAN-Based Anomaly Detection for Rare Diseases | B.Tech Capstone 2026–2027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Key Project Achievements</a:t>
            </a:r>
          </a:p>
          <a:p>
            <a:pPr>
              <a:spcBef>
                <a:spcPts val="600"/>
              </a:spcBef>
              <a:defRPr b="1" sz="1150">
                <a:solidFill>
                  <a:srgbClr val="0D9488"/>
                </a:solidFill>
              </a:defRPr>
            </a:pPr>
            <a:r>
              <a:t>✓ Label-Free Anomaly Mining: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Successfully addresses rare disease diagnostic delays using unsupervised DBSCAN density clustering.</a:t>
            </a:r>
          </a:p>
          <a:p>
            <a:pPr>
              <a:spcBef>
                <a:spcPts val="600"/>
              </a:spcBef>
              <a:defRPr b="1" sz="1150">
                <a:solidFill>
                  <a:srgbClr val="0D9488"/>
                </a:solidFill>
              </a:defRPr>
            </a:pPr>
            <a:r>
              <a:t>✓ Transparent Clinical XAI: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Provides clinicians with actionable Z-score feature attributions and 2D PCA spatial maps.</a:t>
            </a:r>
          </a:p>
          <a:p>
            <a:pPr>
              <a:spcBef>
                <a:spcPts val="600"/>
              </a:spcBef>
              <a:defRPr b="1" sz="1150">
                <a:solidFill>
                  <a:srgbClr val="0D9488"/>
                </a:solidFill>
              </a:defRPr>
            </a:pPr>
            <a:r>
              <a:t>✓ Automated CDS Suggestions: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Bridges the gap between raw data science outliers and actionable specialist referral pathways.</a:t>
            </a:r>
          </a:p>
          <a:p>
            <a:pPr>
              <a:spcBef>
                <a:spcPts val="600"/>
              </a:spcBef>
              <a:defRPr b="1" sz="1150">
                <a:solidFill>
                  <a:srgbClr val="0D9488"/>
                </a:solidFill>
              </a:defRPr>
            </a:pPr>
            <a:r>
              <a:t>✓ Production Cloud Architecture: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Fully containerized, Vercel-ready serverless deployment backed by Supabase PostgreSQL audit storage.</a:t>
            </a:r>
          </a:p>
          <a:p>
            <a:pPr>
              <a:spcBef>
                <a:spcPts val="600"/>
              </a:spcBef>
              <a:defRPr b="1" sz="1150">
                <a:solidFill>
                  <a:srgbClr val="0D9488"/>
                </a:solidFill>
              </a:defRPr>
            </a:pPr>
            <a:r>
              <a:t>✓ 100% Test Validation: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Comprehensive test suite verifying algorithm correctness, data isolation, and API security.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663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172A"/>
                </a:solidFill>
              </a:defRPr>
            </a:pPr>
            <a:r>
              <a:t>Future Scope &amp; Project Credits</a:t>
            </a:r>
          </a:p>
          <a:p>
            <a:pPr>
              <a:spcBef>
                <a:spcPts val="600"/>
              </a:spcBef>
              <a:defRPr b="1" sz="1150">
                <a:solidFill>
                  <a:srgbClr val="0284C7"/>
                </a:solidFill>
              </a:defRPr>
            </a:pPr>
            <a:r>
              <a:t>• Multi-Modal Integration: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Incorporate genomic Variant Call Format (VCF) files and clinical unstructured physician notes via Medical LLMs.</a:t>
            </a:r>
          </a:p>
          <a:p>
            <a:pPr>
              <a:spcBef>
                <a:spcPts val="600"/>
              </a:spcBef>
              <a:defRPr b="1" sz="1150">
                <a:solidFill>
                  <a:srgbClr val="0284C7"/>
                </a:solidFill>
              </a:defRPr>
            </a:pPr>
            <a:r>
              <a:t>• Federated Learning: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Enable collaborative multi-hospital rare disease outlier detection without sharing raw patient data.</a:t>
            </a:r>
          </a:p>
          <a:p>
            <a:pPr>
              <a:spcBef>
                <a:spcPts val="600"/>
              </a:spcBef>
              <a:defRPr b="1" sz="1150">
                <a:solidFill>
                  <a:srgbClr val="0284C7"/>
                </a:solidFill>
              </a:defRPr>
            </a:pPr>
            <a:r>
              <a:t>• Longitudinal Patient Trajectories: 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   Apply temporal clustering to track subtle multi-year biomarker deterioration trends.</a:t>
            </a:r>
          </a:p>
          <a:p>
            <a:br/>
            <a:pPr>
              <a:spcBef>
                <a:spcPts val="1000"/>
              </a:spcBef>
              <a:defRPr sz="1400" b="1">
                <a:solidFill>
                  <a:srgbClr val="0F172A"/>
                </a:solidFill>
              </a:defRPr>
            </a:pPr>
            <a:r>
              <a:t>Thank You! Questions &amp; Discussion</a:t>
            </a:r>
          </a:p>
          <a:p>
            <a:pPr>
              <a:defRPr sz="1050">
                <a:solidFill>
                  <a:srgbClr val="64748B"/>
                </a:solidFill>
              </a:defRPr>
            </a:pPr>
            <a:r>
              <a:t>Adithya Vishnubhatla &amp; Pavan Kumar</a:t>
            </a:r>
            <a:br/>
            <a:r>
              <a:t>Faculty Guide: I V Sai Lakshmi Haritha</a:t>
            </a:r>
            <a:br/>
            <a:r>
              <a:t>Department of CSE • B.Tech Capstone 2026–2027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